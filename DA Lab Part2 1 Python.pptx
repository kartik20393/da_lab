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8DC56-B11D-731F-FB31-388C2879AE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906CA3-2EDB-104A-2C4E-1240D15498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037FA8-9713-01F5-3BDF-B83F134F19C6}"/>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5" name="Footer Placeholder 4">
            <a:extLst>
              <a:ext uri="{FF2B5EF4-FFF2-40B4-BE49-F238E27FC236}">
                <a16:creationId xmlns:a16="http://schemas.microsoft.com/office/drawing/2014/main" id="{64A1AD37-06A4-97E9-300E-372C896113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CD1815-2AC2-98C1-7CF1-3E9858245E0B}"/>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152075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6C381-7747-855D-27CC-235DFADEBE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E5444F-BFAC-E864-581B-80C7CABFD8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FCDE3-EA0B-6A85-470D-43A787030131}"/>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5" name="Footer Placeholder 4">
            <a:extLst>
              <a:ext uri="{FF2B5EF4-FFF2-40B4-BE49-F238E27FC236}">
                <a16:creationId xmlns:a16="http://schemas.microsoft.com/office/drawing/2014/main" id="{058104F1-B46C-9814-47A0-07700AECB0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189C26-D755-4AE2-3F16-48A7B3C24714}"/>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1541330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63678-21D7-974B-ECFF-35F1D6C809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A3ED07F-C73E-1787-4E58-39B6D6F6BA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B516BE-C397-A79F-11BA-841ABAE81F66}"/>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5" name="Footer Placeholder 4">
            <a:extLst>
              <a:ext uri="{FF2B5EF4-FFF2-40B4-BE49-F238E27FC236}">
                <a16:creationId xmlns:a16="http://schemas.microsoft.com/office/drawing/2014/main" id="{CB1BE70B-CCB4-24FD-509C-39B7DC6D3F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08748C-3D04-0C07-25F8-3E3E6B518666}"/>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425312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55CBB-AEB2-F9A9-551C-2C3E24DCEA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6FBD7E-7F92-1A80-71C7-FA35DAB13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015CE1-7557-03A6-AB3D-9BD80A0D2E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07F0F1-651F-DBEA-1A97-6A758C538618}"/>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6" name="Footer Placeholder 5">
            <a:extLst>
              <a:ext uri="{FF2B5EF4-FFF2-40B4-BE49-F238E27FC236}">
                <a16:creationId xmlns:a16="http://schemas.microsoft.com/office/drawing/2014/main" id="{9595403F-5EF3-C66E-E78B-86384B1328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4C1C9E-4FD8-882A-70A8-956BDF5D8BD4}"/>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3081986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982E-3384-AA6B-64D5-B7E96F8191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7A551A-E530-2A85-CC77-75F23F772E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FAA45C-8D18-5AA1-26AF-0AF56726CA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BDDC60-EDB5-1585-7579-1AFD39DB7E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818543-816F-1BC4-3D02-9ED3F3D54E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B87D4F-76DF-2B62-CFFD-1E9331DFFA33}"/>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8" name="Footer Placeholder 7">
            <a:extLst>
              <a:ext uri="{FF2B5EF4-FFF2-40B4-BE49-F238E27FC236}">
                <a16:creationId xmlns:a16="http://schemas.microsoft.com/office/drawing/2014/main" id="{23A827DB-9057-02FA-3E58-9BF21D7867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848CC4-BC5C-F654-B3DE-F480E1D94F43}"/>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40112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B519-D903-3F90-8CF7-9F3EC1ECA1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382057-4C6D-FBFF-BC46-EB209497A6CA}"/>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4" name="Footer Placeholder 3">
            <a:extLst>
              <a:ext uri="{FF2B5EF4-FFF2-40B4-BE49-F238E27FC236}">
                <a16:creationId xmlns:a16="http://schemas.microsoft.com/office/drawing/2014/main" id="{22DC6EF6-BA72-04F9-B45A-FB1DEC4A8F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6AFEA1-3191-F7EA-6D5A-9F7728B1E0C2}"/>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223038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76D1FC-4CDF-097A-C913-6D6252984234}"/>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3" name="Footer Placeholder 2">
            <a:extLst>
              <a:ext uri="{FF2B5EF4-FFF2-40B4-BE49-F238E27FC236}">
                <a16:creationId xmlns:a16="http://schemas.microsoft.com/office/drawing/2014/main" id="{2101D835-3D6E-CEA7-16A1-72CC89FCD3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64E79E-BE19-A950-4B9F-6C8C2BCB5494}"/>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401443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2D17-F0A0-9BE1-5A4C-1039691CD3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F517A0-31F7-33A7-E366-177D71496D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DF240E-33B3-7C9E-2526-4A8920653D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D65F32-8550-0F55-0F65-7A0909AEDE8D}"/>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6" name="Footer Placeholder 5">
            <a:extLst>
              <a:ext uri="{FF2B5EF4-FFF2-40B4-BE49-F238E27FC236}">
                <a16:creationId xmlns:a16="http://schemas.microsoft.com/office/drawing/2014/main" id="{CF4A9DE3-4F77-1F3A-F82F-06B6D81E84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9B2E7F-D731-4ED5-C9A7-3DA52A4C84F5}"/>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422706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3C7B-458F-F78E-6717-31F8A40578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917379-BE55-7179-1B2A-4BF61B4F9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C0EEC9-A416-5AFF-A80C-C52645BD2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04EBE7-08D5-9D44-ADE3-CBB283878D92}"/>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6" name="Footer Placeholder 5">
            <a:extLst>
              <a:ext uri="{FF2B5EF4-FFF2-40B4-BE49-F238E27FC236}">
                <a16:creationId xmlns:a16="http://schemas.microsoft.com/office/drawing/2014/main" id="{828AB884-D135-598C-CE47-5046A9951C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B109E4-2D13-2DB2-3BB1-74E2A089E593}"/>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3330867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105B-AEAE-3166-9C0F-5475C5D0C79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8B9A86-B5D4-B1D0-1E1C-A0EA051A4A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68ECC8-4D8C-8700-7889-42B1FF144070}"/>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5" name="Footer Placeholder 4">
            <a:extLst>
              <a:ext uri="{FF2B5EF4-FFF2-40B4-BE49-F238E27FC236}">
                <a16:creationId xmlns:a16="http://schemas.microsoft.com/office/drawing/2014/main" id="{DB631A64-4BCB-9AA1-E650-E1F19424F3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345A42-A0F6-3ED0-2C68-A215133BF71D}"/>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473222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856D2A-5047-994A-BD97-E631AF670F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5F3277-D1F9-2C89-1597-4CE39B08B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A51617-60BA-BE42-2A91-364449784807}"/>
              </a:ext>
            </a:extLst>
          </p:cNvPr>
          <p:cNvSpPr>
            <a:spLocks noGrp="1"/>
          </p:cNvSpPr>
          <p:nvPr>
            <p:ph type="dt" sz="half" idx="10"/>
          </p:nvPr>
        </p:nvSpPr>
        <p:spPr/>
        <p:txBody>
          <a:bodyPr/>
          <a:lstStyle/>
          <a:p>
            <a:fld id="{34B25509-FA91-495F-8333-55FE707A7CAC}" type="datetimeFigureOut">
              <a:rPr lang="en-IN" smtClean="0"/>
              <a:t>20-12-2024</a:t>
            </a:fld>
            <a:endParaRPr lang="en-IN"/>
          </a:p>
        </p:txBody>
      </p:sp>
      <p:sp>
        <p:nvSpPr>
          <p:cNvPr id="5" name="Footer Placeholder 4">
            <a:extLst>
              <a:ext uri="{FF2B5EF4-FFF2-40B4-BE49-F238E27FC236}">
                <a16:creationId xmlns:a16="http://schemas.microsoft.com/office/drawing/2014/main" id="{355F5D7D-7C72-FB2E-7477-0A7B5A57CE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251241-65FF-FBBF-6C79-47B214CBB64C}"/>
              </a:ext>
            </a:extLst>
          </p:cNvPr>
          <p:cNvSpPr>
            <a:spLocks noGrp="1"/>
          </p:cNvSpPr>
          <p:nvPr>
            <p:ph type="sldNum" sz="quarter" idx="12"/>
          </p:nvPr>
        </p:nvSpPr>
        <p:spPr/>
        <p:txBody>
          <a:bodyPr/>
          <a:lstStyle/>
          <a:p>
            <a:fld id="{C3D2C589-2FAB-4090-AB65-29228D8C9CAB}" type="slidenum">
              <a:rPr lang="en-IN" smtClean="0"/>
              <a:t>‹#›</a:t>
            </a:fld>
            <a:endParaRPr lang="en-IN"/>
          </a:p>
        </p:txBody>
      </p:sp>
    </p:spTree>
    <p:extLst>
      <p:ext uri="{BB962C8B-B14F-4D97-AF65-F5344CB8AC3E}">
        <p14:creationId xmlns:p14="http://schemas.microsoft.com/office/powerpoint/2010/main" val="316475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99DD95-7D2C-6C75-F3A4-04A978D61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E669FE-8B29-05F6-9F08-E13635233E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B3492F-826E-F053-9F65-5F14869CAD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B25509-FA91-495F-8333-55FE707A7CAC}" type="datetimeFigureOut">
              <a:rPr lang="en-IN" smtClean="0"/>
              <a:t>20-12-2024</a:t>
            </a:fld>
            <a:endParaRPr lang="en-IN"/>
          </a:p>
        </p:txBody>
      </p:sp>
      <p:sp>
        <p:nvSpPr>
          <p:cNvPr id="5" name="Footer Placeholder 4">
            <a:extLst>
              <a:ext uri="{FF2B5EF4-FFF2-40B4-BE49-F238E27FC236}">
                <a16:creationId xmlns:a16="http://schemas.microsoft.com/office/drawing/2014/main" id="{77494DFD-B29F-D164-53F9-15892E6903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1BD6A7-6529-0D1D-E825-E723F2CA95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D2C589-2FAB-4090-AB65-29228D8C9CAB}" type="slidenum">
              <a:rPr lang="en-IN" smtClean="0"/>
              <a:t>‹#›</a:t>
            </a:fld>
            <a:endParaRPr lang="en-IN"/>
          </a:p>
        </p:txBody>
      </p:sp>
    </p:spTree>
    <p:extLst>
      <p:ext uri="{BB962C8B-B14F-4D97-AF65-F5344CB8AC3E}">
        <p14:creationId xmlns:p14="http://schemas.microsoft.com/office/powerpoint/2010/main" val="2498871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D0586-D288-33C1-5A65-6768523F8967}"/>
              </a:ext>
            </a:extLst>
          </p:cNvPr>
          <p:cNvSpPr>
            <a:spLocks noGrp="1"/>
          </p:cNvSpPr>
          <p:nvPr>
            <p:ph type="ctrTitle"/>
          </p:nvPr>
        </p:nvSpPr>
        <p:spPr/>
        <p:txBody>
          <a:bodyPr/>
          <a:lstStyle/>
          <a:p>
            <a:r>
              <a:rPr lang="en-US" dirty="0"/>
              <a:t>DA Python Lab 1</a:t>
            </a:r>
            <a:endParaRPr lang="en-IN" dirty="0"/>
          </a:p>
        </p:txBody>
      </p:sp>
    </p:spTree>
    <p:extLst>
      <p:ext uri="{BB962C8B-B14F-4D97-AF65-F5344CB8AC3E}">
        <p14:creationId xmlns:p14="http://schemas.microsoft.com/office/powerpoint/2010/main" val="52841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028CC-F68D-4531-B99D-047562385CE2}"/>
              </a:ext>
            </a:extLst>
          </p:cNvPr>
          <p:cNvSpPr>
            <a:spLocks noGrp="1"/>
          </p:cNvSpPr>
          <p:nvPr>
            <p:ph type="title"/>
          </p:nvPr>
        </p:nvSpPr>
        <p:spPr/>
        <p:txBody>
          <a:bodyPr/>
          <a:lstStyle/>
          <a:p>
            <a:r>
              <a:rPr lang="en-US" dirty="0"/>
              <a:t>Program 1 a. Calculating Simple probabilities</a:t>
            </a:r>
            <a:endParaRPr lang="en-IN" dirty="0"/>
          </a:p>
        </p:txBody>
      </p:sp>
      <p:sp>
        <p:nvSpPr>
          <p:cNvPr id="3" name="Content Placeholder 2">
            <a:extLst>
              <a:ext uri="{FF2B5EF4-FFF2-40B4-BE49-F238E27FC236}">
                <a16:creationId xmlns:a16="http://schemas.microsoft.com/office/drawing/2014/main" id="{2C9761B5-A936-6D59-049D-44C3F0D39564}"/>
              </a:ext>
            </a:extLst>
          </p:cNvPr>
          <p:cNvSpPr>
            <a:spLocks noGrp="1"/>
          </p:cNvSpPr>
          <p:nvPr>
            <p:ph idx="1"/>
          </p:nvPr>
        </p:nvSpPr>
        <p:spPr/>
        <p:txBody>
          <a:bodyPr/>
          <a:lstStyle/>
          <a:p>
            <a:pPr marL="0" indent="0">
              <a:buNone/>
            </a:pPr>
            <a:r>
              <a:rPr lang="en-IN" dirty="0"/>
              <a:t>import pandas as pd</a:t>
            </a:r>
          </a:p>
          <a:p>
            <a:pPr marL="0" indent="0">
              <a:buNone/>
            </a:pPr>
            <a:r>
              <a:rPr lang="en-IN" dirty="0" err="1"/>
              <a:t>df</a:t>
            </a:r>
            <a:r>
              <a:rPr lang="en-IN" dirty="0"/>
              <a:t> = </a:t>
            </a:r>
            <a:r>
              <a:rPr lang="en-IN" dirty="0" err="1"/>
              <a:t>pd.read_csv</a:t>
            </a:r>
            <a:r>
              <a:rPr lang="en-IN" dirty="0"/>
              <a:t>('train.csv')</a:t>
            </a:r>
          </a:p>
          <a:p>
            <a:pPr marL="0" indent="0">
              <a:buNone/>
            </a:pPr>
            <a:r>
              <a:rPr lang="en-IN" dirty="0" err="1"/>
              <a:t>probability_event</a:t>
            </a:r>
            <a:r>
              <a:rPr lang="en-IN" dirty="0"/>
              <a:t> = </a:t>
            </a:r>
            <a:r>
              <a:rPr lang="en-IN" dirty="0" err="1"/>
              <a:t>df</a:t>
            </a:r>
            <a:r>
              <a:rPr lang="en-IN" dirty="0"/>
              <a:t>['Survived'].</a:t>
            </a:r>
            <a:r>
              <a:rPr lang="en-IN" dirty="0" err="1"/>
              <a:t>value_counts</a:t>
            </a:r>
            <a:r>
              <a:rPr lang="en-IN" dirty="0"/>
              <a:t>() / </a:t>
            </a:r>
            <a:r>
              <a:rPr lang="en-IN" dirty="0" err="1"/>
              <a:t>len</a:t>
            </a:r>
            <a:r>
              <a:rPr lang="en-IN" dirty="0"/>
              <a:t>(</a:t>
            </a:r>
            <a:r>
              <a:rPr lang="en-IN" dirty="0" err="1"/>
              <a:t>df</a:t>
            </a:r>
            <a:r>
              <a:rPr lang="en-IN" dirty="0"/>
              <a:t>['Survived'])</a:t>
            </a:r>
          </a:p>
          <a:p>
            <a:pPr marL="0" indent="0">
              <a:buNone/>
            </a:pPr>
            <a:r>
              <a:rPr lang="en-IN" dirty="0"/>
              <a:t>print(</a:t>
            </a:r>
            <a:r>
              <a:rPr lang="en-IN" dirty="0" err="1"/>
              <a:t>probability_event</a:t>
            </a:r>
            <a:r>
              <a:rPr lang="en-IN" dirty="0"/>
              <a:t>)</a:t>
            </a:r>
          </a:p>
        </p:txBody>
      </p:sp>
    </p:spTree>
    <p:extLst>
      <p:ext uri="{BB962C8B-B14F-4D97-AF65-F5344CB8AC3E}">
        <p14:creationId xmlns:p14="http://schemas.microsoft.com/office/powerpoint/2010/main" val="2222997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9969C-8969-037E-0CC5-AB5C88E2F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85C83-F660-A8E6-BB37-AEC75DF640D6}"/>
              </a:ext>
            </a:extLst>
          </p:cNvPr>
          <p:cNvSpPr>
            <a:spLocks noGrp="1"/>
          </p:cNvSpPr>
          <p:nvPr>
            <p:ph type="title"/>
          </p:nvPr>
        </p:nvSpPr>
        <p:spPr/>
        <p:txBody>
          <a:bodyPr/>
          <a:lstStyle/>
          <a:p>
            <a:r>
              <a:rPr lang="en-US" dirty="0"/>
              <a:t>Program 1 a. Calculating Simple probabilities</a:t>
            </a:r>
            <a:endParaRPr lang="en-IN" dirty="0"/>
          </a:p>
        </p:txBody>
      </p:sp>
      <p:sp>
        <p:nvSpPr>
          <p:cNvPr id="3" name="Content Placeholder 2">
            <a:extLst>
              <a:ext uri="{FF2B5EF4-FFF2-40B4-BE49-F238E27FC236}">
                <a16:creationId xmlns:a16="http://schemas.microsoft.com/office/drawing/2014/main" id="{797D4D87-9A4A-87CE-434F-8B52F726363A}"/>
              </a:ext>
            </a:extLst>
          </p:cNvPr>
          <p:cNvSpPr>
            <a:spLocks noGrp="1"/>
          </p:cNvSpPr>
          <p:nvPr>
            <p:ph idx="1"/>
          </p:nvPr>
        </p:nvSpPr>
        <p:spPr/>
        <p:txBody>
          <a:bodyPr>
            <a:normAutofit fontScale="92500" lnSpcReduction="20000"/>
          </a:bodyPr>
          <a:lstStyle/>
          <a:p>
            <a:pPr marL="0" indent="0">
              <a:buNone/>
            </a:pPr>
            <a:r>
              <a:rPr lang="en-US" b="1" dirty="0"/>
              <a:t>import pandas as pd</a:t>
            </a:r>
          </a:p>
          <a:p>
            <a:pPr marL="0" indent="0">
              <a:buNone/>
            </a:pPr>
            <a:r>
              <a:rPr lang="en-US" dirty="0"/>
              <a:t>    This line imports the panda's library, which is a powerful tool for data manipulation and analysis in Python. The alias pd is commonly used when importing pandas for ease of use.</a:t>
            </a:r>
          </a:p>
          <a:p>
            <a:pPr marL="0" indent="0">
              <a:buNone/>
            </a:pPr>
            <a:endParaRPr lang="en-US" dirty="0"/>
          </a:p>
          <a:p>
            <a:pPr marL="0" indent="0">
              <a:buNone/>
            </a:pPr>
            <a:r>
              <a:rPr lang="en-US" b="1" dirty="0"/>
              <a:t>df = </a:t>
            </a:r>
            <a:r>
              <a:rPr lang="en-US" b="1" dirty="0" err="1"/>
              <a:t>pd.read_csv</a:t>
            </a:r>
            <a:r>
              <a:rPr lang="en-US" b="1" dirty="0"/>
              <a:t>('train.csv’)</a:t>
            </a:r>
          </a:p>
          <a:p>
            <a:pPr marL="0" indent="0">
              <a:buNone/>
            </a:pPr>
            <a:endParaRPr lang="en-US" dirty="0"/>
          </a:p>
          <a:p>
            <a:pPr marL="0" indent="0">
              <a:buNone/>
            </a:pPr>
            <a:r>
              <a:rPr lang="en-US" dirty="0"/>
              <a:t>Here, the program reads a CSV (Comma-Separated Values) file named train.csv into a pandas </a:t>
            </a:r>
            <a:r>
              <a:rPr lang="en-US" dirty="0" err="1"/>
              <a:t>DataFrame</a:t>
            </a:r>
            <a:r>
              <a:rPr lang="en-US" dirty="0"/>
              <a:t>, which is a data structure that represents tabular data. The variable df now contains this </a:t>
            </a:r>
            <a:r>
              <a:rPr lang="en-US" dirty="0" err="1"/>
              <a:t>DataFrame</a:t>
            </a:r>
            <a:r>
              <a:rPr lang="en-US" dirty="0"/>
              <a:t>, and each column corresponds to a column in the CSV file. You can manipulate, analyze, and visualize this </a:t>
            </a:r>
            <a:r>
              <a:rPr lang="en-US" dirty="0" err="1"/>
              <a:t>DataFrame</a:t>
            </a:r>
            <a:r>
              <a:rPr lang="en-US" dirty="0"/>
              <a:t> using pandas.</a:t>
            </a:r>
          </a:p>
          <a:p>
            <a:pPr marL="0" indent="0">
              <a:buNone/>
            </a:pPr>
            <a:endParaRPr lang="en-IN" dirty="0"/>
          </a:p>
        </p:txBody>
      </p:sp>
    </p:spTree>
    <p:extLst>
      <p:ext uri="{BB962C8B-B14F-4D97-AF65-F5344CB8AC3E}">
        <p14:creationId xmlns:p14="http://schemas.microsoft.com/office/powerpoint/2010/main" val="402734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1292F-A7B9-B831-6905-0A1E8AF1D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8065F-E6CD-18C1-F95E-414D8174CFAE}"/>
              </a:ext>
            </a:extLst>
          </p:cNvPr>
          <p:cNvSpPr>
            <a:spLocks noGrp="1"/>
          </p:cNvSpPr>
          <p:nvPr>
            <p:ph type="title"/>
          </p:nvPr>
        </p:nvSpPr>
        <p:spPr/>
        <p:txBody>
          <a:bodyPr/>
          <a:lstStyle/>
          <a:p>
            <a:r>
              <a:rPr lang="en-US" dirty="0"/>
              <a:t>Program 1 a. Calculating Simple probabilities</a:t>
            </a:r>
            <a:endParaRPr lang="en-IN" dirty="0"/>
          </a:p>
        </p:txBody>
      </p:sp>
      <p:sp>
        <p:nvSpPr>
          <p:cNvPr id="3" name="Content Placeholder 2">
            <a:extLst>
              <a:ext uri="{FF2B5EF4-FFF2-40B4-BE49-F238E27FC236}">
                <a16:creationId xmlns:a16="http://schemas.microsoft.com/office/drawing/2014/main" id="{ED6AAE92-B01E-D5CF-B28D-05C6D1D693E5}"/>
              </a:ext>
            </a:extLst>
          </p:cNvPr>
          <p:cNvSpPr>
            <a:spLocks noGrp="1"/>
          </p:cNvSpPr>
          <p:nvPr>
            <p:ph idx="1"/>
          </p:nvPr>
        </p:nvSpPr>
        <p:spPr/>
        <p:txBody>
          <a:bodyPr>
            <a:normAutofit fontScale="92500" lnSpcReduction="20000"/>
          </a:bodyPr>
          <a:lstStyle/>
          <a:p>
            <a:pPr marL="0" indent="0">
              <a:buNone/>
            </a:pPr>
            <a:r>
              <a:rPr lang="en-US" b="1" dirty="0" err="1"/>
              <a:t>probability_event</a:t>
            </a:r>
            <a:r>
              <a:rPr lang="en-US" b="1" dirty="0"/>
              <a:t> = df['Survived'].</a:t>
            </a:r>
            <a:r>
              <a:rPr lang="en-US" b="1" dirty="0" err="1"/>
              <a:t>value_counts</a:t>
            </a:r>
            <a:r>
              <a:rPr lang="en-US" b="1" dirty="0"/>
              <a:t>() / </a:t>
            </a:r>
            <a:r>
              <a:rPr lang="en-US" b="1" dirty="0" err="1"/>
              <a:t>len</a:t>
            </a:r>
            <a:r>
              <a:rPr lang="en-US" b="1" dirty="0"/>
              <a:t>(df['Survived’])</a:t>
            </a:r>
          </a:p>
          <a:p>
            <a:pPr marL="0" indent="0">
              <a:buNone/>
            </a:pPr>
            <a:endParaRPr lang="en-US" dirty="0"/>
          </a:p>
          <a:p>
            <a:pPr marL="0" indent="0">
              <a:buNone/>
            </a:pPr>
            <a:r>
              <a:rPr lang="en-US" dirty="0"/>
              <a:t>This line calculates the probability of different outcomes in the 'Survived' column of the </a:t>
            </a:r>
            <a:r>
              <a:rPr lang="en-US" dirty="0" err="1"/>
              <a:t>DataFrame</a:t>
            </a:r>
            <a:r>
              <a:rPr lang="en-US" dirty="0"/>
              <a:t>. Here's how it works:</a:t>
            </a:r>
          </a:p>
          <a:p>
            <a:pPr marL="0" indent="0">
              <a:buNone/>
            </a:pPr>
            <a:r>
              <a:rPr lang="en-US" dirty="0"/>
              <a:t>df['Survived'].</a:t>
            </a:r>
            <a:r>
              <a:rPr lang="en-US" dirty="0" err="1"/>
              <a:t>value_counts</a:t>
            </a:r>
            <a:r>
              <a:rPr lang="en-US" dirty="0"/>
              <a:t>() counts the occurrences of each unique value (in this case, likely 0 for not survived and 1 for survived) in the 'Survived' column. The result is a Series that contains the counts of each unique value.</a:t>
            </a:r>
          </a:p>
          <a:p>
            <a:pPr marL="0" indent="0">
              <a:buNone/>
            </a:pPr>
            <a:r>
              <a:rPr lang="en-US" dirty="0" err="1"/>
              <a:t>len</a:t>
            </a:r>
            <a:r>
              <a:rPr lang="en-US" dirty="0"/>
              <a:t>(df['Survived']) calculates the total number of entries (rows) in the 'Survived' column, which is also the total number of passengers in the dataset.</a:t>
            </a:r>
          </a:p>
          <a:p>
            <a:pPr marL="0" indent="0">
              <a:buNone/>
            </a:pPr>
            <a:r>
              <a:rPr lang="en-US" dirty="0"/>
              <a:t>Dividing the counts (from </a:t>
            </a:r>
            <a:r>
              <a:rPr lang="en-US" dirty="0" err="1"/>
              <a:t>value_counts</a:t>
            </a:r>
            <a:r>
              <a:rPr lang="en-US" dirty="0"/>
              <a:t>()) by the total number of entries (from </a:t>
            </a:r>
            <a:r>
              <a:rPr lang="en-US" dirty="0" err="1"/>
              <a:t>len</a:t>
            </a:r>
            <a:r>
              <a:rPr lang="en-US" dirty="0"/>
              <a:t>()) gives the probability of each unique outcome (survived or not survived) by normalizing the counts.</a:t>
            </a:r>
          </a:p>
          <a:p>
            <a:pPr marL="0" indent="0">
              <a:buNone/>
            </a:pPr>
            <a:endParaRPr lang="en-IN" dirty="0"/>
          </a:p>
        </p:txBody>
      </p:sp>
    </p:spTree>
    <p:extLst>
      <p:ext uri="{BB962C8B-B14F-4D97-AF65-F5344CB8AC3E}">
        <p14:creationId xmlns:p14="http://schemas.microsoft.com/office/powerpoint/2010/main" val="4058248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CC7AD-7CA5-50D9-3F19-571879333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A3EB7-9E9F-04C1-DD21-55578DEC1BE0}"/>
              </a:ext>
            </a:extLst>
          </p:cNvPr>
          <p:cNvSpPr>
            <a:spLocks noGrp="1"/>
          </p:cNvSpPr>
          <p:nvPr>
            <p:ph type="title"/>
          </p:nvPr>
        </p:nvSpPr>
        <p:spPr/>
        <p:txBody>
          <a:bodyPr/>
          <a:lstStyle/>
          <a:p>
            <a:r>
              <a:rPr lang="en-US" dirty="0"/>
              <a:t>Program 1 a. Calculating Simple probabilities</a:t>
            </a:r>
            <a:endParaRPr lang="en-IN" dirty="0"/>
          </a:p>
        </p:txBody>
      </p:sp>
      <p:sp>
        <p:nvSpPr>
          <p:cNvPr id="3" name="Content Placeholder 2">
            <a:extLst>
              <a:ext uri="{FF2B5EF4-FFF2-40B4-BE49-F238E27FC236}">
                <a16:creationId xmlns:a16="http://schemas.microsoft.com/office/drawing/2014/main" id="{86B8E8E0-9689-9A78-DED6-F01C1AB3598A}"/>
              </a:ext>
            </a:extLst>
          </p:cNvPr>
          <p:cNvSpPr>
            <a:spLocks noGrp="1"/>
          </p:cNvSpPr>
          <p:nvPr>
            <p:ph idx="1"/>
          </p:nvPr>
        </p:nvSpPr>
        <p:spPr/>
        <p:txBody>
          <a:bodyPr>
            <a:normAutofit/>
          </a:bodyPr>
          <a:lstStyle/>
          <a:p>
            <a:pPr marL="0" indent="0">
              <a:buNone/>
            </a:pPr>
            <a:r>
              <a:rPr lang="en-US" b="1" dirty="0"/>
              <a:t>print(</a:t>
            </a:r>
            <a:r>
              <a:rPr lang="en-US" b="1" dirty="0" err="1"/>
              <a:t>probability_event</a:t>
            </a:r>
            <a:r>
              <a:rPr lang="en-US" b="1" dirty="0"/>
              <a:t>)</a:t>
            </a:r>
          </a:p>
          <a:p>
            <a:pPr marL="0" indent="0">
              <a:buNone/>
            </a:pPr>
            <a:endParaRPr lang="en-US" dirty="0"/>
          </a:p>
          <a:p>
            <a:pPr marL="0" indent="0">
              <a:buNone/>
            </a:pPr>
            <a:r>
              <a:rPr lang="en-US" dirty="0"/>
              <a:t>Finally, this line prints the calculated probabilities of each outcome to the console. The output will show the probability of survival (probably value as 1) and the probability of not surviving (probably value as 0) based on the data in the 'Survived' column of the </a:t>
            </a:r>
            <a:r>
              <a:rPr lang="en-US" dirty="0" err="1"/>
              <a:t>DataFrame</a:t>
            </a:r>
            <a:r>
              <a:rPr lang="en-US" dirty="0"/>
              <a:t>.</a:t>
            </a:r>
          </a:p>
          <a:p>
            <a:pPr marL="0" indent="0">
              <a:buNone/>
            </a:pPr>
            <a:endParaRPr lang="en-IN" dirty="0"/>
          </a:p>
        </p:txBody>
      </p:sp>
    </p:spTree>
    <p:extLst>
      <p:ext uri="{BB962C8B-B14F-4D97-AF65-F5344CB8AC3E}">
        <p14:creationId xmlns:p14="http://schemas.microsoft.com/office/powerpoint/2010/main" val="3232432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AE42-D2A7-B084-66A4-43F30C398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E23AE-570F-F13C-972B-BBF4591C07B2}"/>
              </a:ext>
            </a:extLst>
          </p:cNvPr>
          <p:cNvSpPr>
            <a:spLocks noGrp="1"/>
          </p:cNvSpPr>
          <p:nvPr>
            <p:ph type="title"/>
          </p:nvPr>
        </p:nvSpPr>
        <p:spPr>
          <a:xfrm>
            <a:off x="113122" y="365125"/>
            <a:ext cx="11962614" cy="1325563"/>
          </a:xfrm>
        </p:spPr>
        <p:txBody>
          <a:bodyPr/>
          <a:lstStyle/>
          <a:p>
            <a:r>
              <a:rPr lang="en-US" dirty="0"/>
              <a:t>Program 1 applications of Probability Distributions</a:t>
            </a:r>
            <a:endParaRPr lang="en-IN" dirty="0"/>
          </a:p>
        </p:txBody>
      </p:sp>
      <p:sp>
        <p:nvSpPr>
          <p:cNvPr id="3" name="Content Placeholder 2">
            <a:extLst>
              <a:ext uri="{FF2B5EF4-FFF2-40B4-BE49-F238E27FC236}">
                <a16:creationId xmlns:a16="http://schemas.microsoft.com/office/drawing/2014/main" id="{D92B73D2-FA74-26F0-EB42-5CE7D244C401}"/>
              </a:ext>
            </a:extLst>
          </p:cNvPr>
          <p:cNvSpPr>
            <a:spLocks noGrp="1"/>
          </p:cNvSpPr>
          <p:nvPr>
            <p:ph idx="1"/>
          </p:nvPr>
        </p:nvSpPr>
        <p:spPr>
          <a:xfrm>
            <a:off x="836629" y="1315039"/>
            <a:ext cx="10515600" cy="5542961"/>
          </a:xfrm>
        </p:spPr>
        <p:txBody>
          <a:bodyPr>
            <a:normAutofit fontScale="70000" lnSpcReduction="20000"/>
          </a:bodyPr>
          <a:lstStyle/>
          <a:p>
            <a:pPr marL="0" indent="0">
              <a:buNone/>
            </a:pPr>
            <a:r>
              <a:rPr lang="en-IN" dirty="0"/>
              <a:t>import </a:t>
            </a:r>
            <a:r>
              <a:rPr lang="en-IN" dirty="0" err="1"/>
              <a:t>numpy</a:t>
            </a:r>
            <a:r>
              <a:rPr lang="en-IN" dirty="0"/>
              <a:t> as np</a:t>
            </a:r>
          </a:p>
          <a:p>
            <a:pPr marL="0" indent="0">
              <a:buNone/>
            </a:pPr>
            <a:r>
              <a:rPr lang="en-IN" dirty="0"/>
              <a:t>import pandas as pd</a:t>
            </a:r>
          </a:p>
          <a:p>
            <a:pPr marL="0" indent="0">
              <a:buNone/>
            </a:pPr>
            <a:r>
              <a:rPr lang="en-IN" dirty="0"/>
              <a:t>import </a:t>
            </a:r>
            <a:r>
              <a:rPr lang="en-IN" dirty="0" err="1"/>
              <a:t>matplotlib.pyplot</a:t>
            </a:r>
            <a:r>
              <a:rPr lang="en-IN" dirty="0"/>
              <a:t> as </a:t>
            </a:r>
            <a:r>
              <a:rPr lang="en-IN" dirty="0" err="1"/>
              <a:t>plt</a:t>
            </a:r>
            <a:endParaRPr lang="en-IN" dirty="0"/>
          </a:p>
          <a:p>
            <a:pPr marL="0" indent="0">
              <a:buNone/>
            </a:pPr>
            <a:r>
              <a:rPr lang="en-IN" dirty="0"/>
              <a:t>from </a:t>
            </a:r>
            <a:r>
              <a:rPr lang="en-IN" dirty="0" err="1"/>
              <a:t>scipy.stats</a:t>
            </a:r>
            <a:r>
              <a:rPr lang="en-IN" dirty="0"/>
              <a:t> import norm</a:t>
            </a:r>
          </a:p>
          <a:p>
            <a:pPr marL="0" indent="0">
              <a:buNone/>
            </a:pPr>
            <a:r>
              <a:rPr lang="en-IN" dirty="0" err="1"/>
              <a:t>df</a:t>
            </a:r>
            <a:r>
              <a:rPr lang="en-IN" dirty="0"/>
              <a:t> = </a:t>
            </a:r>
            <a:r>
              <a:rPr lang="en-IN" dirty="0" err="1"/>
              <a:t>pd.read_csv</a:t>
            </a:r>
            <a:r>
              <a:rPr lang="en-IN" dirty="0"/>
              <a:t>('D:/EDU/DA </a:t>
            </a:r>
            <a:r>
              <a:rPr lang="en-IN" dirty="0" err="1"/>
              <a:t>LAb</a:t>
            </a:r>
            <a:r>
              <a:rPr lang="en-IN" dirty="0"/>
              <a:t>/train.csv')</a:t>
            </a:r>
          </a:p>
          <a:p>
            <a:pPr marL="0" indent="0">
              <a:buNone/>
            </a:pPr>
            <a:r>
              <a:rPr lang="en-IN" dirty="0" err="1"/>
              <a:t>titanic_data</a:t>
            </a:r>
            <a:r>
              <a:rPr lang="en-IN" dirty="0"/>
              <a:t> = </a:t>
            </a:r>
            <a:r>
              <a:rPr lang="en-IN" dirty="0" err="1"/>
              <a:t>df.dropna</a:t>
            </a:r>
            <a:r>
              <a:rPr lang="en-IN" dirty="0"/>
              <a:t>(subset=['Age'])</a:t>
            </a:r>
          </a:p>
          <a:p>
            <a:pPr marL="0" indent="0">
              <a:buNone/>
            </a:pPr>
            <a:r>
              <a:rPr lang="en-IN" dirty="0" err="1"/>
              <a:t>plt.hist</a:t>
            </a:r>
            <a:r>
              <a:rPr lang="en-IN" dirty="0"/>
              <a:t>(</a:t>
            </a:r>
            <a:r>
              <a:rPr lang="en-IN" dirty="0" err="1"/>
              <a:t>df</a:t>
            </a:r>
            <a:r>
              <a:rPr lang="en-IN" dirty="0"/>
              <a:t>['Age'], bins=30, density=True, alpha=0.5, </a:t>
            </a:r>
            <a:r>
              <a:rPr lang="en-IN" dirty="0" err="1"/>
              <a:t>color</a:t>
            </a:r>
            <a:r>
              <a:rPr lang="en-IN" dirty="0"/>
              <a:t>='</a:t>
            </a:r>
            <a:r>
              <a:rPr lang="en-IN" dirty="0" err="1"/>
              <a:t>b',label</a:t>
            </a:r>
            <a:r>
              <a:rPr lang="en-IN" dirty="0"/>
              <a:t>='Age Distribution')</a:t>
            </a:r>
          </a:p>
          <a:p>
            <a:pPr marL="0" indent="0">
              <a:buNone/>
            </a:pPr>
            <a:r>
              <a:rPr lang="en-IN" dirty="0"/>
              <a:t>mu, std = </a:t>
            </a:r>
            <a:r>
              <a:rPr lang="en-IN" dirty="0" err="1"/>
              <a:t>norm.fit</a:t>
            </a:r>
            <a:r>
              <a:rPr lang="en-IN" dirty="0"/>
              <a:t>(</a:t>
            </a:r>
            <a:r>
              <a:rPr lang="en-IN" dirty="0" err="1"/>
              <a:t>titanic_data</a:t>
            </a:r>
            <a:r>
              <a:rPr lang="en-IN" dirty="0"/>
              <a:t>['Age'])</a:t>
            </a:r>
          </a:p>
          <a:p>
            <a:pPr marL="0" indent="0">
              <a:buNone/>
            </a:pPr>
            <a:r>
              <a:rPr lang="en-IN" dirty="0" err="1"/>
              <a:t>xmin</a:t>
            </a:r>
            <a:r>
              <a:rPr lang="en-IN" dirty="0"/>
              <a:t>, </a:t>
            </a:r>
            <a:r>
              <a:rPr lang="en-IN" dirty="0" err="1"/>
              <a:t>xmax</a:t>
            </a:r>
            <a:r>
              <a:rPr lang="en-IN" dirty="0"/>
              <a:t> = </a:t>
            </a:r>
            <a:r>
              <a:rPr lang="en-IN" dirty="0" err="1"/>
              <a:t>plt.xlim</a:t>
            </a:r>
            <a:r>
              <a:rPr lang="en-IN" dirty="0"/>
              <a:t>()</a:t>
            </a:r>
          </a:p>
          <a:p>
            <a:pPr marL="0" indent="0">
              <a:buNone/>
            </a:pPr>
            <a:r>
              <a:rPr lang="en-IN" dirty="0"/>
              <a:t>x = </a:t>
            </a:r>
            <a:r>
              <a:rPr lang="en-IN" dirty="0" err="1"/>
              <a:t>np.linspace</a:t>
            </a:r>
            <a:r>
              <a:rPr lang="en-IN" dirty="0"/>
              <a:t>(</a:t>
            </a:r>
            <a:r>
              <a:rPr lang="en-IN" dirty="0" err="1"/>
              <a:t>xmin</a:t>
            </a:r>
            <a:r>
              <a:rPr lang="en-IN" dirty="0"/>
              <a:t>, </a:t>
            </a:r>
            <a:r>
              <a:rPr lang="en-IN" dirty="0" err="1"/>
              <a:t>xmax</a:t>
            </a:r>
            <a:r>
              <a:rPr lang="en-IN" dirty="0"/>
              <a:t>, 100)</a:t>
            </a:r>
          </a:p>
          <a:p>
            <a:pPr marL="0" indent="0">
              <a:buNone/>
            </a:pPr>
            <a:r>
              <a:rPr lang="en-IN" dirty="0"/>
              <a:t>p = norm.pdf(x, mu, std)</a:t>
            </a:r>
          </a:p>
          <a:p>
            <a:pPr marL="0" indent="0">
              <a:buNone/>
            </a:pPr>
            <a:r>
              <a:rPr lang="en-IN" dirty="0" err="1"/>
              <a:t>plt.plot</a:t>
            </a:r>
            <a:r>
              <a:rPr lang="en-IN" dirty="0"/>
              <a:t>(x, p, 'k', linewidth=2)</a:t>
            </a:r>
          </a:p>
          <a:p>
            <a:pPr marL="0" indent="0">
              <a:buNone/>
            </a:pPr>
            <a:r>
              <a:rPr lang="en-IN" dirty="0" err="1"/>
              <a:t>plt.xlabel</a:t>
            </a:r>
            <a:r>
              <a:rPr lang="en-IN" dirty="0"/>
              <a:t>('Age')</a:t>
            </a:r>
          </a:p>
          <a:p>
            <a:pPr marL="0" indent="0">
              <a:buNone/>
            </a:pPr>
            <a:r>
              <a:rPr lang="en-IN" dirty="0" err="1"/>
              <a:t>plt.ylabel</a:t>
            </a:r>
            <a:r>
              <a:rPr lang="en-IN" dirty="0"/>
              <a:t>('Frequency')</a:t>
            </a:r>
          </a:p>
          <a:p>
            <a:pPr marL="0" indent="0">
              <a:buNone/>
            </a:pPr>
            <a:r>
              <a:rPr lang="en-IN" dirty="0" err="1"/>
              <a:t>plt.legend</a:t>
            </a:r>
            <a:r>
              <a:rPr lang="en-IN" dirty="0"/>
              <a:t>()</a:t>
            </a:r>
          </a:p>
          <a:p>
            <a:pPr marL="0" indent="0">
              <a:buNone/>
            </a:pPr>
            <a:r>
              <a:rPr lang="en-IN" dirty="0" err="1"/>
              <a:t>plt.show</a:t>
            </a:r>
            <a:r>
              <a:rPr lang="en-IN" dirty="0"/>
              <a:t>()</a:t>
            </a:r>
          </a:p>
          <a:p>
            <a:pPr marL="0" indent="0">
              <a:buNone/>
            </a:pPr>
            <a:endParaRPr lang="en-IN" dirty="0"/>
          </a:p>
        </p:txBody>
      </p:sp>
    </p:spTree>
    <p:extLst>
      <p:ext uri="{BB962C8B-B14F-4D97-AF65-F5344CB8AC3E}">
        <p14:creationId xmlns:p14="http://schemas.microsoft.com/office/powerpoint/2010/main" val="2194220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68D0B-425D-6D21-1303-CFD4F0BA9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CD916-873D-0EC7-79F7-A891D39E057F}"/>
              </a:ext>
            </a:extLst>
          </p:cNvPr>
          <p:cNvSpPr>
            <a:spLocks noGrp="1"/>
          </p:cNvSpPr>
          <p:nvPr>
            <p:ph type="title"/>
          </p:nvPr>
        </p:nvSpPr>
        <p:spPr>
          <a:xfrm>
            <a:off x="113122" y="365125"/>
            <a:ext cx="11962614" cy="1325563"/>
          </a:xfrm>
        </p:spPr>
        <p:txBody>
          <a:bodyPr/>
          <a:lstStyle/>
          <a:p>
            <a:r>
              <a:rPr lang="en-US" dirty="0"/>
              <a:t>Program 1 applications of Probability Distributions</a:t>
            </a:r>
            <a:endParaRPr lang="en-IN" dirty="0"/>
          </a:p>
        </p:txBody>
      </p:sp>
      <p:sp>
        <p:nvSpPr>
          <p:cNvPr id="3" name="Content Placeholder 2">
            <a:extLst>
              <a:ext uri="{FF2B5EF4-FFF2-40B4-BE49-F238E27FC236}">
                <a16:creationId xmlns:a16="http://schemas.microsoft.com/office/drawing/2014/main" id="{E2721488-C985-653B-BF01-F7CEEED44BDB}"/>
              </a:ext>
            </a:extLst>
          </p:cNvPr>
          <p:cNvSpPr>
            <a:spLocks noGrp="1"/>
          </p:cNvSpPr>
          <p:nvPr>
            <p:ph idx="1"/>
          </p:nvPr>
        </p:nvSpPr>
        <p:spPr/>
        <p:txBody>
          <a:bodyPr>
            <a:normAutofit fontScale="77500" lnSpcReduction="20000"/>
          </a:bodyPr>
          <a:lstStyle/>
          <a:p>
            <a:pPr marL="0" indent="0">
              <a:buNone/>
            </a:pPr>
            <a:r>
              <a:rPr lang="en-US" b="1" dirty="0"/>
              <a:t>import </a:t>
            </a:r>
            <a:r>
              <a:rPr lang="en-US" b="1" dirty="0" err="1"/>
              <a:t>numpy</a:t>
            </a:r>
            <a:r>
              <a:rPr lang="en-US" b="1" dirty="0"/>
              <a:t> as np:</a:t>
            </a:r>
          </a:p>
          <a:p>
            <a:pPr marL="0" indent="0">
              <a:buNone/>
            </a:pPr>
            <a:r>
              <a:rPr lang="en-US" dirty="0"/>
              <a:t>This line imports the NumPy library, which is a crucial package for numerical computing in Python. It allows operations on arrays and provides a variety of mathematical functions.</a:t>
            </a:r>
          </a:p>
          <a:p>
            <a:pPr marL="0" indent="0">
              <a:buNone/>
            </a:pPr>
            <a:r>
              <a:rPr lang="en-US" b="1" dirty="0"/>
              <a:t>import pandas as pd</a:t>
            </a:r>
          </a:p>
          <a:p>
            <a:pPr marL="0" indent="0">
              <a:buNone/>
            </a:pPr>
            <a:r>
              <a:rPr lang="en-US" dirty="0"/>
              <a:t>    This line imports the panda's library, which is a powerful tool for data manipulation and analysis in Python. The alias pd is commonly used when importing pandas for ease of use.</a:t>
            </a:r>
          </a:p>
          <a:p>
            <a:pPr marL="0" indent="0">
              <a:buNone/>
            </a:pPr>
            <a:r>
              <a:rPr lang="en-US" b="1" dirty="0"/>
              <a:t>import </a:t>
            </a:r>
            <a:r>
              <a:rPr lang="en-US" b="1" dirty="0" err="1"/>
              <a:t>matplotlib.pyplot</a:t>
            </a:r>
            <a:r>
              <a:rPr lang="en-US" b="1" dirty="0"/>
              <a:t> as </a:t>
            </a:r>
            <a:r>
              <a:rPr lang="en-US" b="1" dirty="0" err="1"/>
              <a:t>plt</a:t>
            </a:r>
            <a:r>
              <a:rPr lang="en-US" b="1" dirty="0"/>
              <a:t>:</a:t>
            </a:r>
          </a:p>
          <a:p>
            <a:pPr marL="0" indent="0">
              <a:buNone/>
            </a:pPr>
            <a:r>
              <a:rPr lang="en-US" dirty="0"/>
              <a:t>Here, the </a:t>
            </a:r>
            <a:r>
              <a:rPr lang="en-US" dirty="0" err="1"/>
              <a:t>pyplot</a:t>
            </a:r>
            <a:r>
              <a:rPr lang="en-US" dirty="0"/>
              <a:t> module from the Matplotlib library is imported. This module is widely used for creating static, animated, and interactive visualizations in Python.</a:t>
            </a:r>
          </a:p>
          <a:p>
            <a:pPr marL="0" indent="0">
              <a:buNone/>
            </a:pPr>
            <a:r>
              <a:rPr lang="en-US" b="1" dirty="0"/>
              <a:t>from </a:t>
            </a:r>
            <a:r>
              <a:rPr lang="en-US" b="1" dirty="0" err="1"/>
              <a:t>scipy.stats</a:t>
            </a:r>
            <a:r>
              <a:rPr lang="en-US" b="1" dirty="0"/>
              <a:t> import norm:</a:t>
            </a:r>
          </a:p>
          <a:p>
            <a:pPr marL="0" indent="0">
              <a:buNone/>
            </a:pPr>
            <a:r>
              <a:rPr lang="en-US" dirty="0"/>
              <a:t>This line imports the norm object from the </a:t>
            </a:r>
            <a:r>
              <a:rPr lang="en-US" dirty="0" err="1"/>
              <a:t>scipy.stats</a:t>
            </a:r>
            <a:r>
              <a:rPr lang="en-US" dirty="0"/>
              <a:t> module. The norm object represents the normal (Gaussian) distribution and provides methods for creating and manipulating this distribution.</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71865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B0EB0-C070-9844-E0D4-B91B3DE1A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1DE23-EA67-242F-F975-B8A7BBD039F5}"/>
              </a:ext>
            </a:extLst>
          </p:cNvPr>
          <p:cNvSpPr>
            <a:spLocks noGrp="1"/>
          </p:cNvSpPr>
          <p:nvPr>
            <p:ph type="title"/>
          </p:nvPr>
        </p:nvSpPr>
        <p:spPr>
          <a:xfrm>
            <a:off x="113122" y="365125"/>
            <a:ext cx="11962614" cy="1325563"/>
          </a:xfrm>
        </p:spPr>
        <p:txBody>
          <a:bodyPr/>
          <a:lstStyle/>
          <a:p>
            <a:r>
              <a:rPr lang="en-US" dirty="0"/>
              <a:t>Program 1 applications of Probability Distributions</a:t>
            </a:r>
            <a:endParaRPr lang="en-IN" dirty="0"/>
          </a:p>
        </p:txBody>
      </p:sp>
      <p:sp>
        <p:nvSpPr>
          <p:cNvPr id="3" name="Content Placeholder 2">
            <a:extLst>
              <a:ext uri="{FF2B5EF4-FFF2-40B4-BE49-F238E27FC236}">
                <a16:creationId xmlns:a16="http://schemas.microsoft.com/office/drawing/2014/main" id="{DEED15A6-F58E-3CFD-F814-9C300899401B}"/>
              </a:ext>
            </a:extLst>
          </p:cNvPr>
          <p:cNvSpPr>
            <a:spLocks noGrp="1"/>
          </p:cNvSpPr>
          <p:nvPr>
            <p:ph idx="1"/>
          </p:nvPr>
        </p:nvSpPr>
        <p:spPr>
          <a:xfrm>
            <a:off x="498835" y="1513002"/>
            <a:ext cx="10515600" cy="5344998"/>
          </a:xfrm>
        </p:spPr>
        <p:txBody>
          <a:bodyPr>
            <a:normAutofit fontScale="85000" lnSpcReduction="20000"/>
          </a:bodyPr>
          <a:lstStyle/>
          <a:p>
            <a:pPr marL="0" indent="0">
              <a:buNone/>
            </a:pPr>
            <a:r>
              <a:rPr lang="en-US" b="1" dirty="0"/>
              <a:t>df = </a:t>
            </a:r>
            <a:r>
              <a:rPr lang="en-US" b="1" dirty="0" err="1"/>
              <a:t>pd.read_csv</a:t>
            </a:r>
            <a:r>
              <a:rPr lang="en-US" b="1" dirty="0"/>
              <a:t>('train.csv'):</a:t>
            </a:r>
          </a:p>
          <a:p>
            <a:pPr marL="0" indent="0">
              <a:buNone/>
            </a:pPr>
            <a:r>
              <a:rPr lang="en-US" dirty="0"/>
              <a:t> This line reads a CSV (Comma Separated Values) file named 'train.csv' using the Pandas library (though the import statement for Pandas is missing). It loads the data into a </a:t>
            </a:r>
            <a:r>
              <a:rPr lang="en-US" dirty="0" err="1"/>
              <a:t>DataFrame</a:t>
            </a:r>
            <a:r>
              <a:rPr lang="en-US" dirty="0"/>
              <a:t> df, which is a two-dimensional labeled data structure.</a:t>
            </a:r>
          </a:p>
          <a:p>
            <a:pPr marL="0" indent="0">
              <a:buNone/>
            </a:pPr>
            <a:r>
              <a:rPr lang="en-US" b="1" dirty="0" err="1"/>
              <a:t>titanic_data</a:t>
            </a:r>
            <a:r>
              <a:rPr lang="en-US" b="1" dirty="0"/>
              <a:t> = </a:t>
            </a:r>
            <a:r>
              <a:rPr lang="en-US" b="1" dirty="0" err="1"/>
              <a:t>df.dropna</a:t>
            </a:r>
            <a:r>
              <a:rPr lang="en-US" b="1" dirty="0"/>
              <a:t>(subset=['Age']):</a:t>
            </a:r>
          </a:p>
          <a:p>
            <a:pPr marL="0" indent="0">
              <a:buNone/>
            </a:pPr>
            <a:r>
              <a:rPr lang="en-US" dirty="0"/>
              <a:t>This line creates a new </a:t>
            </a:r>
            <a:r>
              <a:rPr lang="en-US" dirty="0" err="1"/>
              <a:t>DataFrame</a:t>
            </a:r>
            <a:r>
              <a:rPr lang="en-US" dirty="0"/>
              <a:t> called </a:t>
            </a:r>
            <a:r>
              <a:rPr lang="en-US" dirty="0" err="1"/>
              <a:t>titanic_data</a:t>
            </a:r>
            <a:r>
              <a:rPr lang="en-US" dirty="0"/>
              <a:t> by removing any rows in df that have </a:t>
            </a:r>
            <a:r>
              <a:rPr lang="en-US" dirty="0" err="1"/>
              <a:t>NaN</a:t>
            </a:r>
            <a:r>
              <a:rPr lang="en-US" dirty="0"/>
              <a:t> (missing) values in the 'Age' column. This ensures that calculations involving age will not be impacted by missing data.</a:t>
            </a:r>
          </a:p>
          <a:p>
            <a:pPr marL="0" indent="0">
              <a:buNone/>
            </a:pPr>
            <a:r>
              <a:rPr lang="en-US" b="1" dirty="0"/>
              <a:t>mu, std = </a:t>
            </a:r>
            <a:r>
              <a:rPr lang="en-US" b="1" dirty="0" err="1"/>
              <a:t>norm.fit</a:t>
            </a:r>
            <a:r>
              <a:rPr lang="en-US" b="1" dirty="0"/>
              <a:t>(</a:t>
            </a:r>
            <a:r>
              <a:rPr lang="en-US" b="1" dirty="0" err="1"/>
              <a:t>titanic_data</a:t>
            </a:r>
            <a:r>
              <a:rPr lang="en-US" b="1" dirty="0"/>
              <a:t>['Age']):</a:t>
            </a:r>
          </a:p>
          <a:p>
            <a:pPr marL="0" indent="0">
              <a:buNone/>
            </a:pPr>
            <a:r>
              <a:rPr lang="en-US" dirty="0"/>
              <a:t>This line calculates the mean (mu) and standard deviation (std) of the 'Age' data from the </a:t>
            </a:r>
            <a:r>
              <a:rPr lang="en-US" dirty="0" err="1"/>
              <a:t>titanic_data</a:t>
            </a:r>
            <a:r>
              <a:rPr lang="en-US" dirty="0"/>
              <a:t> </a:t>
            </a:r>
            <a:r>
              <a:rPr lang="en-US" dirty="0" err="1"/>
              <a:t>DataFrame</a:t>
            </a:r>
            <a:r>
              <a:rPr lang="en-US" dirty="0"/>
              <a:t>. The fit method of the norm object fits a normal distribution to the data.</a:t>
            </a:r>
          </a:p>
          <a:p>
            <a:pPr marL="0" indent="0">
              <a:buNone/>
            </a:pPr>
            <a:r>
              <a:rPr lang="en-US" b="1" dirty="0" err="1"/>
              <a:t>xmin</a:t>
            </a:r>
            <a:r>
              <a:rPr lang="en-US" b="1" dirty="0"/>
              <a:t>, </a:t>
            </a:r>
            <a:r>
              <a:rPr lang="en-US" b="1" dirty="0" err="1"/>
              <a:t>xmax</a:t>
            </a:r>
            <a:r>
              <a:rPr lang="en-US" b="1" dirty="0"/>
              <a:t> = </a:t>
            </a:r>
            <a:r>
              <a:rPr lang="en-US" b="1" dirty="0" err="1"/>
              <a:t>plt.xlim</a:t>
            </a:r>
            <a:r>
              <a:rPr lang="en-US" b="1" dirty="0"/>
              <a:t>():</a:t>
            </a:r>
          </a:p>
          <a:p>
            <a:pPr marL="0" indent="0">
              <a:buNone/>
            </a:pPr>
            <a:r>
              <a:rPr lang="en-US" dirty="0"/>
              <a:t>This line retrieves the current x-axis limits of the plot (the minimum and maximum x values). This allows the next plot to align correctly with the histogram.</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71312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B568-F126-CF96-990B-3EA8B2BA5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2DE5B-95B6-37C8-4322-BECC7201CA61}"/>
              </a:ext>
            </a:extLst>
          </p:cNvPr>
          <p:cNvSpPr>
            <a:spLocks noGrp="1"/>
          </p:cNvSpPr>
          <p:nvPr>
            <p:ph type="title"/>
          </p:nvPr>
        </p:nvSpPr>
        <p:spPr>
          <a:xfrm>
            <a:off x="113122" y="365125"/>
            <a:ext cx="11962614" cy="1325563"/>
          </a:xfrm>
        </p:spPr>
        <p:txBody>
          <a:bodyPr/>
          <a:lstStyle/>
          <a:p>
            <a:r>
              <a:rPr lang="en-US" dirty="0"/>
              <a:t>Program 1 applications of Probability Distributions</a:t>
            </a:r>
            <a:endParaRPr lang="en-IN" dirty="0"/>
          </a:p>
        </p:txBody>
      </p:sp>
      <p:sp>
        <p:nvSpPr>
          <p:cNvPr id="3" name="Content Placeholder 2">
            <a:extLst>
              <a:ext uri="{FF2B5EF4-FFF2-40B4-BE49-F238E27FC236}">
                <a16:creationId xmlns:a16="http://schemas.microsoft.com/office/drawing/2014/main" id="{54526568-9375-CD44-088B-E009CB864B4D}"/>
              </a:ext>
            </a:extLst>
          </p:cNvPr>
          <p:cNvSpPr>
            <a:spLocks noGrp="1"/>
          </p:cNvSpPr>
          <p:nvPr>
            <p:ph idx="1"/>
          </p:nvPr>
        </p:nvSpPr>
        <p:spPr>
          <a:xfrm>
            <a:off x="498835" y="1513002"/>
            <a:ext cx="10515600" cy="5344998"/>
          </a:xfrm>
        </p:spPr>
        <p:txBody>
          <a:bodyPr>
            <a:normAutofit fontScale="70000" lnSpcReduction="20000"/>
          </a:bodyPr>
          <a:lstStyle/>
          <a:p>
            <a:pPr marL="0" indent="0">
              <a:buNone/>
            </a:pPr>
            <a:r>
              <a:rPr lang="en-US" b="1" dirty="0"/>
              <a:t>x = </a:t>
            </a:r>
            <a:r>
              <a:rPr lang="en-US" b="1" dirty="0" err="1"/>
              <a:t>np.linspace</a:t>
            </a:r>
            <a:r>
              <a:rPr lang="en-US" b="1" dirty="0"/>
              <a:t>(</a:t>
            </a:r>
            <a:r>
              <a:rPr lang="en-US" b="1" dirty="0" err="1"/>
              <a:t>xmin</a:t>
            </a:r>
            <a:r>
              <a:rPr lang="en-US" b="1" dirty="0"/>
              <a:t>, </a:t>
            </a:r>
            <a:r>
              <a:rPr lang="en-US" b="1" dirty="0" err="1"/>
              <a:t>xmax</a:t>
            </a:r>
            <a:r>
              <a:rPr lang="en-US" b="1" dirty="0"/>
              <a:t>, 100):</a:t>
            </a:r>
          </a:p>
          <a:p>
            <a:pPr marL="0" indent="0">
              <a:buNone/>
            </a:pPr>
            <a:r>
              <a:rPr lang="en-US" dirty="0"/>
              <a:t>This line creates an array x of 100 evenly spaced values ranging from </a:t>
            </a:r>
            <a:r>
              <a:rPr lang="en-US" dirty="0" err="1"/>
              <a:t>xmin</a:t>
            </a:r>
            <a:r>
              <a:rPr lang="en-US" dirty="0"/>
              <a:t> to </a:t>
            </a:r>
            <a:r>
              <a:rPr lang="en-US" dirty="0" err="1"/>
              <a:t>xmax</a:t>
            </a:r>
            <a:r>
              <a:rPr lang="en-US" dirty="0"/>
              <a:t>. This will be used to evaluate the probability density function (PDF) of the normal distribution over this range.</a:t>
            </a:r>
          </a:p>
          <a:p>
            <a:pPr marL="0" indent="0">
              <a:buNone/>
            </a:pPr>
            <a:r>
              <a:rPr lang="en-US" b="1" dirty="0"/>
              <a:t>p = norm.pdf(x, mu, std):</a:t>
            </a:r>
          </a:p>
          <a:p>
            <a:pPr marL="0" indent="0">
              <a:buNone/>
            </a:pPr>
            <a:r>
              <a:rPr lang="en-US" dirty="0"/>
              <a:t>This line computes the probability density function of the normal distribution for the values in x, using the previously calculated mean (mu) and standard deviation (std). The result is stored in the variable p.</a:t>
            </a:r>
          </a:p>
          <a:p>
            <a:pPr marL="0" indent="0">
              <a:buNone/>
            </a:pPr>
            <a:r>
              <a:rPr lang="en-US" b="1" dirty="0" err="1"/>
              <a:t>plt.hist</a:t>
            </a:r>
            <a:r>
              <a:rPr lang="en-US" b="1" dirty="0"/>
              <a:t>(</a:t>
            </a:r>
            <a:r>
              <a:rPr lang="en-US" b="1" dirty="0" err="1"/>
              <a:t>df</a:t>
            </a:r>
            <a:r>
              <a:rPr lang="en-US" b="1" dirty="0"/>
              <a:t>['Age'], bins=30, density=True, alpha=0.5, color='b', label='Age Distribution’):</a:t>
            </a:r>
          </a:p>
          <a:p>
            <a:pPr marL="0" indent="0">
              <a:buNone/>
            </a:pPr>
            <a:r>
              <a:rPr lang="en-US" dirty="0"/>
              <a:t>This line creates a histogram of the 'Age' column from the original Data Frame </a:t>
            </a:r>
            <a:r>
              <a:rPr lang="en-US" dirty="0" err="1"/>
              <a:t>df</a:t>
            </a:r>
            <a:r>
              <a:rPr lang="en-US" dirty="0"/>
              <a:t>.</a:t>
            </a:r>
          </a:p>
          <a:p>
            <a:pPr marL="0" indent="0">
              <a:buNone/>
            </a:pPr>
            <a:r>
              <a:rPr lang="en-US" dirty="0"/>
              <a:t>        bins=30: Specifies the number of bins to use in the histogram.</a:t>
            </a:r>
          </a:p>
          <a:p>
            <a:pPr marL="0" indent="0">
              <a:buNone/>
            </a:pPr>
            <a:r>
              <a:rPr lang="en-US" dirty="0"/>
              <a:t>        density=True: Normalizes the histogram so that its area sums to 1, transforming the counts into a probability density.</a:t>
            </a:r>
          </a:p>
          <a:p>
            <a:pPr marL="0" indent="0">
              <a:buNone/>
            </a:pPr>
            <a:r>
              <a:rPr lang="en-US" dirty="0"/>
              <a:t>        alpha=0.5: Sets the transparency level of the histogram bars (0 is completely transparent, 1 is completely opaque).</a:t>
            </a:r>
          </a:p>
          <a:p>
            <a:pPr marL="0" indent="0">
              <a:buNone/>
            </a:pPr>
            <a:r>
              <a:rPr lang="en-US" dirty="0"/>
              <a:t>        color='b': Specifies the color of the bars (blue in this case).</a:t>
            </a:r>
          </a:p>
          <a:p>
            <a:pPr marL="0" indent="0">
              <a:buNone/>
            </a:pPr>
            <a:r>
              <a:rPr lang="en-US" dirty="0"/>
              <a:t>        label='Age Distribution': Provides a label for the histogram that will be used in the legend.</a:t>
            </a:r>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2567961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C071-62E1-7686-D151-9F7BF8F07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092D8-4104-6F19-7642-970740E83B1B}"/>
              </a:ext>
            </a:extLst>
          </p:cNvPr>
          <p:cNvSpPr>
            <a:spLocks noGrp="1"/>
          </p:cNvSpPr>
          <p:nvPr>
            <p:ph type="title"/>
          </p:nvPr>
        </p:nvSpPr>
        <p:spPr>
          <a:xfrm>
            <a:off x="113122" y="365125"/>
            <a:ext cx="11962614" cy="1325563"/>
          </a:xfrm>
        </p:spPr>
        <p:txBody>
          <a:bodyPr/>
          <a:lstStyle/>
          <a:p>
            <a:r>
              <a:rPr lang="en-US" dirty="0"/>
              <a:t>Program 1 applications of Probability Distributions</a:t>
            </a:r>
            <a:endParaRPr lang="en-IN" dirty="0"/>
          </a:p>
        </p:txBody>
      </p:sp>
      <p:sp>
        <p:nvSpPr>
          <p:cNvPr id="3" name="Content Placeholder 2">
            <a:extLst>
              <a:ext uri="{FF2B5EF4-FFF2-40B4-BE49-F238E27FC236}">
                <a16:creationId xmlns:a16="http://schemas.microsoft.com/office/drawing/2014/main" id="{C8AB5DD4-7709-DE8C-040F-BCC269AB9598}"/>
              </a:ext>
            </a:extLst>
          </p:cNvPr>
          <p:cNvSpPr>
            <a:spLocks noGrp="1"/>
          </p:cNvSpPr>
          <p:nvPr>
            <p:ph idx="1"/>
          </p:nvPr>
        </p:nvSpPr>
        <p:spPr>
          <a:xfrm>
            <a:off x="498835" y="1513002"/>
            <a:ext cx="10515600" cy="5344998"/>
          </a:xfrm>
        </p:spPr>
        <p:txBody>
          <a:bodyPr>
            <a:normAutofit fontScale="92500" lnSpcReduction="20000"/>
          </a:bodyPr>
          <a:lstStyle/>
          <a:p>
            <a:pPr marL="0" indent="0">
              <a:buNone/>
            </a:pPr>
            <a:r>
              <a:rPr lang="en-US" b="1" dirty="0" err="1"/>
              <a:t>plt.plot</a:t>
            </a:r>
            <a:r>
              <a:rPr lang="en-US" b="1" dirty="0"/>
              <a:t>(x, p, 'k', linewidth=2):</a:t>
            </a:r>
          </a:p>
          <a:p>
            <a:pPr marL="0" indent="0">
              <a:buNone/>
            </a:pPr>
            <a:r>
              <a:rPr lang="en-US" dirty="0"/>
              <a:t>  This line plots the computed PDF p against x as a line on the histogram.</a:t>
            </a:r>
          </a:p>
          <a:p>
            <a:pPr marL="0" indent="0">
              <a:buNone/>
            </a:pPr>
            <a:r>
              <a:rPr lang="en-US" dirty="0"/>
              <a:t>        'k': Specifies the color of the line (black).</a:t>
            </a:r>
          </a:p>
          <a:p>
            <a:pPr marL="0" indent="0">
              <a:buNone/>
            </a:pPr>
            <a:r>
              <a:rPr lang="en-US" dirty="0"/>
              <a:t>        linewidth=2: Sets the thickness of the line.</a:t>
            </a:r>
          </a:p>
          <a:p>
            <a:pPr marL="0" indent="0">
              <a:buNone/>
            </a:pPr>
            <a:r>
              <a:rPr lang="en-US" b="1" dirty="0" err="1"/>
              <a:t>plt.xlabel</a:t>
            </a:r>
            <a:r>
              <a:rPr lang="en-US" b="1" dirty="0"/>
              <a:t>('Age'):</a:t>
            </a:r>
          </a:p>
          <a:p>
            <a:pPr marL="0" indent="0">
              <a:buNone/>
            </a:pPr>
            <a:r>
              <a:rPr lang="en-US" dirty="0"/>
              <a:t>This line sets the label for the x-axis of the plot to 'Age'.</a:t>
            </a:r>
          </a:p>
          <a:p>
            <a:pPr marL="0" indent="0">
              <a:buNone/>
            </a:pPr>
            <a:r>
              <a:rPr lang="en-US" b="1" dirty="0" err="1"/>
              <a:t>plt.ylabel</a:t>
            </a:r>
            <a:r>
              <a:rPr lang="en-US" b="1" dirty="0"/>
              <a:t>('Frequency'):</a:t>
            </a:r>
          </a:p>
          <a:p>
            <a:pPr marL="0" indent="0">
              <a:buNone/>
            </a:pPr>
            <a:r>
              <a:rPr lang="en-US" dirty="0"/>
              <a:t>This line sets the label for the y-axis of the plot to 'Frequency'.</a:t>
            </a:r>
          </a:p>
          <a:p>
            <a:pPr marL="0" indent="0">
              <a:buNone/>
            </a:pPr>
            <a:r>
              <a:rPr lang="en-US" b="1" dirty="0" err="1"/>
              <a:t>plt.legend</a:t>
            </a:r>
            <a:r>
              <a:rPr lang="en-US" b="1" dirty="0"/>
              <a:t>():</a:t>
            </a:r>
          </a:p>
          <a:p>
            <a:pPr marL="0" indent="0">
              <a:buNone/>
            </a:pPr>
            <a:r>
              <a:rPr lang="en-US" dirty="0"/>
              <a:t>This line displays a legend on the plot to identify the plotted data. It will use the labels provided earlier in the histogram plot.</a:t>
            </a:r>
          </a:p>
          <a:p>
            <a:pPr marL="0" indent="0">
              <a:buNone/>
            </a:pPr>
            <a:r>
              <a:rPr lang="en-US" b="1" dirty="0" err="1"/>
              <a:t>plt.show</a:t>
            </a:r>
            <a:r>
              <a:rPr lang="en-US" b="1" dirty="0"/>
              <a:t>():</a:t>
            </a:r>
          </a:p>
          <a:p>
            <a:pPr marL="0" indent="0">
              <a:buNone/>
            </a:pPr>
            <a:r>
              <a:rPr lang="en-US" dirty="0"/>
              <a:t>Finally, this line renders the plot and displays it to the screen.</a:t>
            </a:r>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1374030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1350</Words>
  <Application>Microsoft Office PowerPoint</Application>
  <PresentationFormat>Widescreen</PresentationFormat>
  <Paragraphs>87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DA Python Lab 1</vt:lpstr>
      <vt:lpstr>Program 1 a. Calculating Simple probabilities</vt:lpstr>
      <vt:lpstr>Program 1 a. Calculating Simple probabilities</vt:lpstr>
      <vt:lpstr>Program 1 a. Calculating Simple probabilities</vt:lpstr>
      <vt:lpstr>Program 1 a. Calculating Simple probabilities</vt:lpstr>
      <vt:lpstr>Program 1 applications of Probability Distributions</vt:lpstr>
      <vt:lpstr>Program 1 applications of Probability Distributions</vt:lpstr>
      <vt:lpstr>Program 1 applications of Probability Distributions</vt:lpstr>
      <vt:lpstr>Program 1 applications of Probability Distributions</vt:lpstr>
      <vt:lpstr>Program 1 applications of Probability Distributions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KARTIK BADARINARAYANA</dc:creator>
  <cp:lastModifiedBy>KARTIK BADARINARAYANA</cp:lastModifiedBy>
  <cp:revision>11</cp:revision>
  <dcterms:created xsi:type="dcterms:W3CDTF">2024-12-19T15:46:12Z</dcterms:created>
  <dcterms:modified xsi:type="dcterms:W3CDTF">2024-12-20T04:19:57Z</dcterms:modified>
</cp:coreProperties>
</file>